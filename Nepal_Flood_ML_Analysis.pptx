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6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7.xml" ContentType="application/vnd.openxmlformats-officedocument.drawingml.chart+xml"/>
  <Override PartName="/ppt/notesSlides/notesSlide16.xml" ContentType="application/vnd.openxmlformats-officedocument.presentationml.notesSlide+xml"/>
  <Override PartName="/ppt/charts/chart8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9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10.xml" ContentType="application/vnd.openxmlformats-officedocument.drawingml.chart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9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7F2194E3-DDF8-3001-4965-64E878FD060F}">
          <p14:sldIdLst>
            <p14:sldId id="256"/>
          </p14:sldIdLst>
        </p14:section>
        <p14:section name="Data" id="{CC589F94-E83E-DE5C-2373-7253A648805B}">
          <p14:sldIdLst>
            <p14:sldId id="258"/>
            <p14:sldId id="259"/>
            <p14:sldId id="260"/>
          </p14:sldIdLst>
        </p14:section>
        <p14:section name="EDA" id="{BDF4BA72-9F71-A661-F8BE-3E1075317C4E}">
          <p14:sldIdLst>
            <p14:sldId id="261"/>
            <p14:sldId id="262"/>
            <p14:sldId id="263"/>
            <p14:sldId id="264"/>
          </p14:sldIdLst>
        </p14:section>
        <p14:section name="Features" id="{638A2617-129B-F0EF-114E-FAD5B627B35F}">
          <p14:sldIdLst>
            <p14:sldId id="265"/>
          </p14:sldIdLst>
        </p14:section>
        <p14:section name="Modelling" id="{905D9E18-B46E-9366-3A76-3EFDF495D343}">
          <p14:sldIdLst>
            <p14:sldId id="266"/>
            <p14:sldId id="267"/>
            <p14:sldId id="268"/>
          </p14:sldIdLst>
        </p14:section>
        <p14:section name="Evaluation" id="{2CE6F982-3BDC-BCF2-5053-85D8B1D31BB0}">
          <p14:sldIdLst>
            <p14:sldId id="269"/>
            <p14:sldId id="270"/>
            <p14:sldId id="271"/>
            <p14:sldId id="272"/>
          </p14:sldIdLst>
        </p14:section>
        <p14:section name="Classification" id="{A657AA4B-2B2C-0A87-19FF-38BAA52453B9}">
          <p14:sldIdLst>
            <p14:sldId id="273"/>
            <p14:sldId id="274"/>
            <p14:sldId id="275"/>
            <p14:sldId id="276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discharge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B2545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Kusum</c:v>
                </c:pt>
                <c:pt idx="1">
                  <c:v>Belsot</c:v>
                </c:pt>
                <c:pt idx="2">
                  <c:v>Chameliya/Nayalbadi</c:v>
                </c:pt>
                <c:pt idx="3">
                  <c:v>Bahrabise</c:v>
                </c:pt>
                <c:pt idx="4">
                  <c:v>Devghat</c:v>
                </c:pt>
                <c:pt idx="5">
                  <c:v>Khokana</c:v>
                </c:pt>
                <c:pt idx="6">
                  <c:v>Chatara</c:v>
                </c:pt>
                <c:pt idx="7">
                  <c:v>Rasuwagadhi</c:v>
                </c:pt>
                <c:pt idx="8">
                  <c:v>Chisapani</c:v>
                </c:pt>
                <c:pt idx="9">
                  <c:v>Bhada Bridge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125.81</c:v>
                </c:pt>
                <c:pt idx="1">
                  <c:v>33.03</c:v>
                </c:pt>
                <c:pt idx="2">
                  <c:v>31.39</c:v>
                </c:pt>
                <c:pt idx="3">
                  <c:v>5.05</c:v>
                </c:pt>
                <c:pt idx="4">
                  <c:v>2.33</c:v>
                </c:pt>
                <c:pt idx="5">
                  <c:v>1.66</c:v>
                </c:pt>
                <c:pt idx="6">
                  <c:v>1.49</c:v>
                </c:pt>
                <c:pt idx="7">
                  <c:v>1.41</c:v>
                </c:pt>
                <c:pt idx="8">
                  <c:v>0.85</c:v>
                </c:pt>
                <c:pt idx="9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664-4287-92FC-DDC0A460195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46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2545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0B2545"/>
                </a:solidFill>
                <a:latin typeface="Arial"/>
              </a:rPr>
              <a:t>IQR outlier counts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IQR outliers</c:v>
                </c:pt>
              </c:strCache>
            </c:strRef>
          </c:tx>
          <c:spPr>
            <a:solidFill>
              <a:srgbClr val="F28C2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B2545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rain_mm</c:v>
                </c:pt>
                <c:pt idx="1">
                  <c:v>precipitation_mm</c:v>
                </c:pt>
                <c:pt idx="2">
                  <c:v>river_discharge</c:v>
                </c:pt>
                <c:pt idx="3">
                  <c:v>wind_gusts</c:v>
                </c:pt>
                <c:pt idx="4">
                  <c:v>wind_speed</c:v>
                </c:pt>
                <c:pt idx="5">
                  <c:v>precip_hours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1915</c:v>
                </c:pt>
                <c:pt idx="1">
                  <c:v>1860</c:v>
                </c:pt>
                <c:pt idx="2">
                  <c:v>1379</c:v>
                </c:pt>
                <c:pt idx="3">
                  <c:v>832</c:v>
                </c:pt>
                <c:pt idx="4">
                  <c:v>522</c:v>
                </c:pt>
                <c:pt idx="5">
                  <c:v>345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A3-4EC5-AE9F-A6F10AB0BCE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46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discharge</c:v>
                </c:pt>
              </c:strCache>
            </c:strRef>
          </c:tx>
          <c:spPr>
            <a:ln w="38100" cap="flat">
              <a:solidFill>
                <a:srgbClr val="1C7293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4.3099999999999996</c:v>
                </c:pt>
                <c:pt idx="1">
                  <c:v>3.8</c:v>
                </c:pt>
                <c:pt idx="2">
                  <c:v>3.53</c:v>
                </c:pt>
                <c:pt idx="3">
                  <c:v>3.2</c:v>
                </c:pt>
                <c:pt idx="4">
                  <c:v>3.25</c:v>
                </c:pt>
                <c:pt idx="5">
                  <c:v>6.31</c:v>
                </c:pt>
                <c:pt idx="6">
                  <c:v>53.72</c:v>
                </c:pt>
                <c:pt idx="7">
                  <c:v>72.459999999999994</c:v>
                </c:pt>
                <c:pt idx="8">
                  <c:v>52.97</c:v>
                </c:pt>
                <c:pt idx="9">
                  <c:v>28.61</c:v>
                </c:pt>
                <c:pt idx="10">
                  <c:v>8.74</c:v>
                </c:pt>
                <c:pt idx="11">
                  <c:v>5.05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79A-45FE-92F6-024BC43951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46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E2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44546A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44546A"/>
                    </a:solidFill>
                    <a:latin typeface="Arial"/>
                  </a:rPr>
                  <a:t>m³/s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46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Days above p95</c:v>
                </c:pt>
              </c:strCache>
            </c:strRef>
          </c:tx>
          <c:spPr>
            <a:solidFill>
              <a:srgbClr val="F28C2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B2545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</c:v>
                </c:pt>
                <c:pt idx="1">
                  <c:v>174</c:v>
                </c:pt>
                <c:pt idx="2">
                  <c:v>346</c:v>
                </c:pt>
                <c:pt idx="3">
                  <c:v>88</c:v>
                </c:pt>
                <c:pt idx="4">
                  <c:v>49</c:v>
                </c:pt>
                <c:pt idx="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9A-4030-9F7A-62971B76589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46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4.1152263374485597E-2"/>
          <c:y val="3.9173789173789171E-2"/>
          <c:w val="0.95884773662551437"/>
          <c:h val="0.9216524216524216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B2545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dew_point</c:v>
                </c:pt>
                <c:pt idx="1">
                  <c:v>temperature</c:v>
                </c:pt>
                <c:pt idx="2">
                  <c:v>humidity</c:v>
                </c:pt>
                <c:pt idx="3">
                  <c:v>soil_moisture</c:v>
                </c:pt>
                <c:pt idx="4">
                  <c:v>precip_hours</c:v>
                </c:pt>
                <c:pt idx="5">
                  <c:v>rain_mm</c:v>
                </c:pt>
                <c:pt idx="6">
                  <c:v>precipitation</c:v>
                </c:pt>
                <c:pt idx="7">
                  <c:v>wind_speed</c:v>
                </c:pt>
                <c:pt idx="8">
                  <c:v>wind_gusts</c:v>
                </c:pt>
                <c:pt idx="9">
                  <c:v>wind_dir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0.22600000000000001</c:v>
                </c:pt>
                <c:pt idx="1">
                  <c:v>0.17799999999999999</c:v>
                </c:pt>
                <c:pt idx="2">
                  <c:v>0.17199999999999999</c:v>
                </c:pt>
                <c:pt idx="3">
                  <c:v>0.152</c:v>
                </c:pt>
                <c:pt idx="4">
                  <c:v>0.14499999999999999</c:v>
                </c:pt>
                <c:pt idx="5">
                  <c:v>0.1</c:v>
                </c:pt>
                <c:pt idx="6">
                  <c:v>9.9000000000000005E-2</c:v>
                </c:pt>
                <c:pt idx="7">
                  <c:v>5.1999999999999998E-2</c:v>
                </c:pt>
                <c:pt idx="8">
                  <c:v>-8.9999999999999993E-3</c:v>
                </c:pt>
                <c:pt idx="9">
                  <c:v>-4.1000000000000002E-2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CE-4538-BE6F-71AB5C94FB4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46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B2545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LR</c:v>
                </c:pt>
                <c:pt idx="1">
                  <c:v>RF</c:v>
                </c:pt>
                <c:pt idx="2">
                  <c:v>GB</c:v>
                </c:pt>
                <c:pt idx="3">
                  <c:v>DT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6.06</c:v>
                </c:pt>
                <c:pt idx="1">
                  <c:v>2.42</c:v>
                </c:pt>
                <c:pt idx="2">
                  <c:v>2.84</c:v>
                </c:pt>
                <c:pt idx="3">
                  <c:v>3.11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7B0-4A4A-8841-E42C93E7573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rgbClr val="F28C28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B2545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LR</c:v>
                </c:pt>
                <c:pt idx="1">
                  <c:v>RF</c:v>
                </c:pt>
                <c:pt idx="2">
                  <c:v>GB</c:v>
                </c:pt>
                <c:pt idx="3">
                  <c:v>DT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15.04</c:v>
                </c:pt>
                <c:pt idx="1">
                  <c:v>16.66</c:v>
                </c:pt>
                <c:pt idx="2">
                  <c:v>19.34</c:v>
                </c:pt>
                <c:pt idx="3">
                  <c:v>23.08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7B0-4A4A-8841-E42C93E7573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46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B2545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discharge (today)</c:v>
                </c:pt>
                <c:pt idx="1">
                  <c:v>temperature</c:v>
                </c:pt>
                <c:pt idx="2">
                  <c:v>rain_mm</c:v>
                </c:pt>
                <c:pt idx="3">
                  <c:v>precipitation</c:v>
                </c:pt>
                <c:pt idx="4">
                  <c:v>discharge 7d mean</c:v>
                </c:pt>
                <c:pt idx="5">
                  <c:v>dew point</c:v>
                </c:pt>
                <c:pt idx="6">
                  <c:v>precip hours</c:v>
                </c:pt>
                <c:pt idx="7">
                  <c:v>rain lag 1</c:v>
                </c:pt>
                <c:pt idx="8">
                  <c:v>soil moisture</c:v>
                </c:pt>
                <c:pt idx="9">
                  <c:v>discharge lag 1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0.81359999999999999</c:v>
                </c:pt>
                <c:pt idx="1">
                  <c:v>3.6700000000000003E-2</c:v>
                </c:pt>
                <c:pt idx="2">
                  <c:v>2.3300000000000001E-2</c:v>
                </c:pt>
                <c:pt idx="3">
                  <c:v>2.1000000000000001E-2</c:v>
                </c:pt>
                <c:pt idx="4">
                  <c:v>1.9199999999999998E-2</c:v>
                </c:pt>
                <c:pt idx="5">
                  <c:v>1.6899999999999998E-2</c:v>
                </c:pt>
                <c:pt idx="6">
                  <c:v>1.2E-2</c:v>
                </c:pt>
                <c:pt idx="7">
                  <c:v>1.1599999999999999E-2</c:v>
                </c:pt>
                <c:pt idx="8">
                  <c:v>1.04E-2</c:v>
                </c:pt>
                <c:pt idx="9">
                  <c:v>4.8999999999999998E-3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2D-492E-99F1-984F70AAEE0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46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8DA9C4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B2545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MAE</c:v>
                </c:pt>
                <c:pt idx="1">
                  <c:v>RMSE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2.4708000000000001</c:v>
                </c:pt>
                <c:pt idx="1">
                  <c:v>17.8201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E4-4B22-ACD7-9B4F09525C1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Engineered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B2545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MAE</c:v>
                </c:pt>
                <c:pt idx="1">
                  <c:v>RMSE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2.4167000000000001</c:v>
                </c:pt>
                <c:pt idx="1">
                  <c:v>16.655200000000001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1E4-4B22-ACD7-9B4F09525C1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46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Logistic Reg.</c:v>
                </c:pt>
              </c:strCache>
            </c:strRef>
          </c:tx>
          <c:spPr>
            <a:solidFill>
              <a:srgbClr val="8DA9C4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2545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0.84</c:v>
                </c:pt>
                <c:pt idx="1">
                  <c:v>0.28699999999999998</c:v>
                </c:pt>
                <c:pt idx="2">
                  <c:v>1</c:v>
                </c:pt>
                <c:pt idx="3">
                  <c:v>0.44600000000000001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B5-4D95-9873-A792D7CDB54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Tree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2545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0.93600000000000005</c:v>
                </c:pt>
                <c:pt idx="1">
                  <c:v>0.5</c:v>
                </c:pt>
                <c:pt idx="2">
                  <c:v>0.66300000000000003</c:v>
                </c:pt>
                <c:pt idx="3">
                  <c:v>0.56999999999999995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3B5-4D95-9873-A792D7CDB54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F28C28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2545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0.97</c:v>
                </c:pt>
                <c:pt idx="1">
                  <c:v>0.76900000000000002</c:v>
                </c:pt>
                <c:pt idx="2">
                  <c:v>0.75600000000000001</c:v>
                </c:pt>
                <c:pt idx="3">
                  <c:v>0.76200000000000001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3B5-4D95-9873-A792D7CDB54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46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F28C28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B2545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dew point</c:v>
                </c:pt>
                <c:pt idx="1">
                  <c:v>rain sum 7d</c:v>
                </c:pt>
                <c:pt idx="2">
                  <c:v>discharge (today)</c:v>
                </c:pt>
                <c:pt idx="3">
                  <c:v>rain mean 7d</c:v>
                </c:pt>
                <c:pt idx="4">
                  <c:v>month</c:v>
                </c:pt>
                <c:pt idx="5">
                  <c:v>humidity</c:v>
                </c:pt>
                <c:pt idx="6">
                  <c:v>discharge lag 1</c:v>
                </c:pt>
                <c:pt idx="7">
                  <c:v>rain sum 3d</c:v>
                </c:pt>
                <c:pt idx="8">
                  <c:v>discharge lag 2</c:v>
                </c:pt>
                <c:pt idx="9">
                  <c:v>discharge mean 7d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9.4E-2</c:v>
                </c:pt>
                <c:pt idx="1">
                  <c:v>9.0999999999999998E-2</c:v>
                </c:pt>
                <c:pt idx="2">
                  <c:v>8.6999999999999994E-2</c:v>
                </c:pt>
                <c:pt idx="3">
                  <c:v>8.5000000000000006E-2</c:v>
                </c:pt>
                <c:pt idx="4">
                  <c:v>6.8000000000000005E-2</c:v>
                </c:pt>
                <c:pt idx="5">
                  <c:v>6.2E-2</c:v>
                </c:pt>
                <c:pt idx="6">
                  <c:v>0.06</c:v>
                </c:pt>
                <c:pt idx="7">
                  <c:v>5.8000000000000003E-2</c:v>
                </c:pt>
                <c:pt idx="8">
                  <c:v>4.7E-2</c:v>
                </c:pt>
                <c:pt idx="9">
                  <c:v>4.4999999999999998E-2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20-4AAC-86F0-8675E2D5F4E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46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5294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92608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</a:rPr>
              <a:t>Nepal Flood &amp; Weather: Next-Day River Discharge Prediction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Dataset at a glance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984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Coverage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459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Daily records, 1 Jan 2023 to 31 Aug 2026. 13,390 rows x 19 columns.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2984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Stations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6459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10 gauges, incl. Kusum, Belsot, Chameliya/Nayalbadi, Devghat, Khokana.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393192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30358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Variables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3832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10 weather fields, 8 date/station fields, 1 target: river_discharge_m3s.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2926080"/>
            <a:ext cx="393192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30358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Quality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3832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0 missing values, 0 duplicate rows, 0 duplicate date-station pairs.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Station discharge varies 180x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97280"/>
          <a:ext cx="53035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035040" y="1371600"/>
            <a:ext cx="2651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Mean discharge in m³/s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Kusum averages 125.8, Bhada Bridge 0.7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One scale for all stations hides small rivers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Motivates station one-hot encoding and station-specific flood thresholds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heavily skewed target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202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accent1"/>
                </a:solidFill>
              </a:rPr>
              <a:t>1.88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385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median m³/s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14600" y="1188720"/>
            <a:ext cx="19202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06040" y="12801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accent1"/>
                </a:solidFill>
              </a:rPr>
              <a:t>20.37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2606040" y="19385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mean m³/s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19202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6974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accent2"/>
                </a:solidFill>
              </a:rPr>
              <a:t>84.33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3558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std deviation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514600" y="2606040"/>
            <a:ext cx="19202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06040" y="26974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accent2"/>
                </a:solidFill>
              </a:rPr>
              <a:t>3,176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2606040" y="33558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max m³/s</a:t>
            </a:r>
            <a:endParaRPr lang="en-US" sz="130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4663440" y="1097280"/>
          <a:ext cx="40233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Extremes were kept: they are the flood signal. Log transform used for the histogram.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monsoon dominates the year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97280"/>
          <a:ext cx="54864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217920" y="1371600"/>
            <a:ext cx="2468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Peak: August, 72.46 m³/s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Surge begins in June (6.3), jumps in July (53.7)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Dry months sit near 3-4 m³/s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Month is a strong predictor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When do unusually high flows occur?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97280"/>
          <a:ext cx="47548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0" y="1280160"/>
            <a:ext cx="3200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666 station-days exceed their own 95th percentile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Aug alone holds 346; none in Jan-May or Dec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All 10 largest discharges belong to Kusum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Record: 3,175.87 m³/s on 28 Sep 2024 with only 8.4 mm rain: flood driven by upstream and antecedent water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Weather vs discharge: weak links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1662168935"/>
              </p:ext>
            </p:extLst>
          </p:nvPr>
        </p:nvGraphicFramePr>
        <p:xfrm>
          <a:off x="457200" y="1097280"/>
          <a:ext cx="493776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669280" y="1280160"/>
            <a:ext cx="3017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Pooled |r| never exceeds 0.23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Dew point leads; same-day rain only 0.10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Why: stations differ 100x in scale, and rain reaches the gauge with a delay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Fix: lag and rolling rainfall, per-station view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Stations compared on a log scale</a:t>
            </a:r>
            <a:endParaRPr lang="en-US" sz="3000" dirty="0"/>
          </a:p>
        </p:txBody>
      </p:sp>
      <p:pic>
        <p:nvPicPr>
          <p:cNvPr id="3" name="Image 0" descr="/home/claude/imgs/c32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5669280" cy="3200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309360" y="1371600"/>
            <a:ext cx="2377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Kusum, Chameliya and Belsot have the highest medians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Spreads span 3+ orders of magnitude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Long upper whiskers = flood spikes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Station identity is essential model information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Feature engineering pipeline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65960" cy="201168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984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Rain lags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4592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Previous 1, 2 and 3 day rainfall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60320" y="1188720"/>
            <a:ext cx="1965960" cy="201168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97480" y="12984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Rolling rain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164592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3-day and 7-day sums, 7-day mean (shifted 1 day)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1965960" cy="201168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2984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Discharge history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164592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Lag 1, lag 2, 7-day mean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66560" y="1188720"/>
            <a:ext cx="1965960" cy="201168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03720" y="12984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Calendar + station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164592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Year, month, 10 one-hot stations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4747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All lags computed per station after sorting by date, so no cross-station leakage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35 features = 14 raw + 11 engineered + 10 station dummies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70 warm-up rows dropped (13,390 to 13,320); 10 more lost to the next-day target (13,310)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Time-based train/test split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6035040" cy="8229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280160"/>
            <a:ext cx="2194560" cy="8229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TRAIN  10,630 rows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92240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TEST  2,680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9 Jan 2023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120640" y="2194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7 Dec 2025 (cutoff)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2194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chemeClr val="tx1"/>
                </a:solidFill>
              </a:rPr>
              <a:t>31 Aug 2026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74320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Cutoff at the 80th percentile of dates; split on target_date, with assertions confirming no overlap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Thresholds and scaler fitted on training data only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Test window covers the full 2026 monsoon, a stringent out-of-time check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Caveat: test contains one monsoon season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Regression model comparison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4023360" cy="173736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Model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MAE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RMSE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R²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Linear Reg.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6.06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15.04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0.934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Random Forest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2.42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16.66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0.920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Grad. Boosting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2.84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19.34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0.892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Decision Tree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3.11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23.08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0.846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Chart 0"/>
          <p:cNvGraphicFramePr/>
          <p:nvPr/>
        </p:nvGraphicFramePr>
        <p:xfrm>
          <a:off x="4663440" y="1097280"/>
          <a:ext cx="402336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32918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Metrics in m³/s. RF wins MAE; Linear Regression wins RMSE and R².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Linear vs Random Forest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7764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9844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Linear Regression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45920"/>
            <a:ext cx="3703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Best RMSE (15.04) and R² (0.934), driven by large peaks.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But MAE is 6.06, and it predicts negative discharge on low flows (-1.16 vs actual 1.64), which is physically impossible.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09160" y="1188720"/>
            <a:ext cx="3977640" cy="3200400"/>
          </a:xfrm>
          <a:prstGeom prst="roundRect">
            <a:avLst>
              <a:gd name="adj" fmla="val 2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29844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Random Forest (preferred)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45920"/>
            <a:ext cx="3703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Lowest MAE (2.42): accurate on the many low-flow days (1.78 vs 1.77 actual).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Larger misses at peak surges raise RMSE to 16.66.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No negative outputs; captures non-linear behaviour.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Random Forest: actual vs predicted</a:t>
            </a:r>
            <a:endParaRPr lang="en-US" sz="3000" dirty="0"/>
          </a:p>
        </p:txBody>
      </p:sp>
      <p:pic>
        <p:nvPicPr>
          <p:cNvPr id="3" name="Image 0" descr="/home/claude/imgs/c99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3931920" cy="2935224"/>
          </a:xfrm>
          <a:prstGeom prst="rect">
            <a:avLst/>
          </a:prstGeom>
        </p:spPr>
      </p:pic>
      <p:pic>
        <p:nvPicPr>
          <p:cNvPr id="4" name="Image 1" descr="/home/claude/imgs/c100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4114800" cy="16916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0" y="320040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Points hug the diagonal, with scatter at high flows. Kusum time series (right) follows the 2026 monsoon surge closely.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Error analysis: largest flows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4754880" cy="208483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Date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Actual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Predicted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Error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19 Jul 2026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742.0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782.2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-40.2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29 Aug 2026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655.2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520.0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+135.1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18 Jul 2026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637.3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335.6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+301.7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24 Aug 2026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635.8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667.9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-32.1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30 Aug 2026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621.3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674.0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-52.7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0" y="128016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All top-10 flows are Kusum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Biggest miss: 18 Jul, a surge onset under-predicted by 302 m³/s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Hardest station: Kusum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Easiest: low-flow gauges (Bhada Bridge, Chisapani); per-station error not in notebook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566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Values in m³/s; error = actual - predicted.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drives next-day discharge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97280"/>
          <a:ext cx="53035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035040" y="1280160"/>
            <a:ext cx="2651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Current discharge alone = 81.4%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River flow is highly persistent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Weather and rainfall refine, not drive, the forecast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Persistence baseline needed to prove added skill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Did feature engineering help?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97280"/>
          <a:ext cx="43891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120640" y="1188720"/>
            <a:ext cx="164592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212080" y="12801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accent1"/>
                </a:solidFill>
              </a:rPr>
              <a:t>-2.19%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212080" y="19385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MAE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949440" y="1188720"/>
            <a:ext cx="173736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040880" y="12801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accent1"/>
                </a:solidFill>
              </a:rPr>
              <a:t>-6.54%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7040880" y="193852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RMSE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120640" y="265176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R² rose from 0.908 to 0.920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Gain is modest because raw discharge already carries most of the signal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Biggest benefit: fewer large errors (RMSE)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High-flow classification setup</a:t>
            </a:r>
            <a:endParaRPr lang="en-US" sz="3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120640" cy="2084832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Station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p90 m³/s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Station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p90 m³/s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Kusum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427.75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Chatara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4.57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Belsot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94.68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Rasuwagadhi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3.59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Chameliya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92.29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Chisapani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2.63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Bahrabise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13.68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Bhada Bridge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2.66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Devghat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6.29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Khokana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5.00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852160" y="1280160"/>
            <a:ext cx="2834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Label 1 if next-day flow exceeds the station's train-set 90th percentile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Class share: 10% train vs 6.4% test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Imbalance handled with class_weight="balanced"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Classifier performance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97280"/>
          <a:ext cx="56692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400800" y="1371600"/>
            <a:ext cx="2286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Random Forest: best F1 (0.762)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Logistic: perfect recall but 28.7% precision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Tree: middling on both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Random Forest confusion matrix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97280" y="1280160"/>
            <a:ext cx="1920240" cy="1371600"/>
          </a:xfrm>
          <a:prstGeom prst="rect">
            <a:avLst/>
          </a:prstGeom>
          <a:solidFill>
            <a:srgbClr val="D9E2EC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7280" y="1463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1"/>
                </a:solidFill>
              </a:rPr>
              <a:t>2,469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True normal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108960" y="1280160"/>
            <a:ext cx="1920240" cy="1371600"/>
          </a:xfrm>
          <a:prstGeom prst="rect">
            <a:avLst/>
          </a:prstGeom>
          <a:solidFill>
            <a:srgbClr val="D9E2EC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108960" y="1463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1"/>
                </a:solidFill>
              </a:rPr>
              <a:t>39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310896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False alarm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97280" y="2743200"/>
            <a:ext cx="1920240" cy="1371600"/>
          </a:xfrm>
          <a:prstGeom prst="rect">
            <a:avLst/>
          </a:prstGeom>
          <a:solidFill>
            <a:srgbClr val="D9E2EC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2926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1"/>
                </a:solidFill>
              </a:rPr>
              <a:t>42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566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Missed flood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108960" y="2743200"/>
            <a:ext cx="1920240" cy="1371600"/>
          </a:xfrm>
          <a:prstGeom prst="rect">
            <a:avLst/>
          </a:prstGeom>
          <a:solidFill>
            <a:srgbClr val="F28C28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108960" y="2926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bg1"/>
                </a:solidFill>
              </a:rPr>
              <a:t>130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3108960" y="3566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Caught flood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206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Predicted: normal | high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0" y="1280160"/>
            <a:ext cx="3200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Precision 76.9%, recall 75.6%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Logistic Regression catches all 172 floods but raises roughly 430 false alarms (derived from its precision)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Flood warning favours recall; trust needs precision: tune the threshold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signals a high-flow day?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97280"/>
          <a:ext cx="53035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035040" y="1280160"/>
            <a:ext cx="2651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Importance is spread out, unlike regression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Accumulated 7-day rainfall and humidity matter for flood onset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Month encodes monsoon timing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168AFDB6-ECE6-18D8-7B41-16F6BE67584C}"/>
              </a:ext>
            </a:extLst>
          </p:cNvPr>
          <p:cNvSpPr txBox="1"/>
          <p:nvPr/>
        </p:nvSpPr>
        <p:spPr>
          <a:xfrm>
            <a:off x="438912" y="210312"/>
            <a:ext cx="82296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 dirty="0">
                <a:solidFill>
                  <a:srgbClr val="F6F9FC"/>
                </a:solidFill>
                <a:latin typeface="Aptos"/>
              </a:rPr>
              <a:t>Conclusion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BE5F4C8-B1CF-B1EA-DB76-5A1FA8CC759D}"/>
              </a:ext>
            </a:extLst>
          </p:cNvPr>
          <p:cNvSpPr txBox="1"/>
          <p:nvPr/>
        </p:nvSpPr>
        <p:spPr>
          <a:xfrm>
            <a:off x="457200" y="66751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 dirty="0">
                <a:solidFill>
                  <a:srgbClr val="B7C9D8"/>
                </a:solidFill>
                <a:latin typeface="Aptos"/>
              </a:rPr>
              <a:t>Next-day river-discharge prediction using weather, river history, seasonality and station information</a:t>
            </a:r>
          </a:p>
        </p:txBody>
      </p:sp>
      <p:sp>
        <p:nvSpPr>
          <p:cNvPr id="45" name="Rounded Rectangle 3">
            <a:extLst>
              <a:ext uri="{FF2B5EF4-FFF2-40B4-BE49-F238E27FC236}">
                <a16:creationId xmlns:a16="http://schemas.microsoft.com/office/drawing/2014/main" id="{B8F74521-DAC2-9816-0D08-ECA9AC997737}"/>
              </a:ext>
            </a:extLst>
          </p:cNvPr>
          <p:cNvSpPr/>
          <p:nvPr/>
        </p:nvSpPr>
        <p:spPr>
          <a:xfrm>
            <a:off x="420624" y="1124712"/>
            <a:ext cx="2029968" cy="621792"/>
          </a:xfrm>
          <a:prstGeom prst="roundRect">
            <a:avLst/>
          </a:prstGeom>
          <a:solidFill>
            <a:srgbClr val="143854"/>
          </a:solidFill>
          <a:ln w="10160">
            <a:solidFill>
              <a:srgbClr val="2F5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CE58808-8D3F-7EA8-A345-53829F1E317F}"/>
              </a:ext>
            </a:extLst>
          </p:cNvPr>
          <p:cNvSpPr txBox="1"/>
          <p:nvPr/>
        </p:nvSpPr>
        <p:spPr>
          <a:xfrm>
            <a:off x="566928" y="1207008"/>
            <a:ext cx="1801368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DD3C4"/>
                </a:solidFill>
                <a:latin typeface="Aptos"/>
              </a:rPr>
              <a:t>72.46 m³/s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C920CA7-2803-FF8E-4E23-CA285DD178AE}"/>
              </a:ext>
            </a:extLst>
          </p:cNvPr>
          <p:cNvSpPr txBox="1"/>
          <p:nvPr/>
        </p:nvSpPr>
        <p:spPr>
          <a:xfrm>
            <a:off x="566928" y="1508760"/>
            <a:ext cx="1801368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B7C9D8"/>
                </a:solidFill>
                <a:latin typeface="Aptos"/>
              </a:rPr>
              <a:t>AUGUST MEAN DISCHARGE</a:t>
            </a:r>
          </a:p>
        </p:txBody>
      </p:sp>
      <p:sp>
        <p:nvSpPr>
          <p:cNvPr id="48" name="Rounded Rectangle 7">
            <a:extLst>
              <a:ext uri="{FF2B5EF4-FFF2-40B4-BE49-F238E27FC236}">
                <a16:creationId xmlns:a16="http://schemas.microsoft.com/office/drawing/2014/main" id="{69736A22-39A2-3950-F765-0CA51CBAC520}"/>
              </a:ext>
            </a:extLst>
          </p:cNvPr>
          <p:cNvSpPr/>
          <p:nvPr/>
        </p:nvSpPr>
        <p:spPr>
          <a:xfrm>
            <a:off x="2505456" y="1124712"/>
            <a:ext cx="2029968" cy="621792"/>
          </a:xfrm>
          <a:prstGeom prst="roundRect">
            <a:avLst/>
          </a:prstGeom>
          <a:solidFill>
            <a:srgbClr val="143854"/>
          </a:solidFill>
          <a:ln w="10160">
            <a:solidFill>
              <a:srgbClr val="2F5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161E42B-8430-E190-0B11-90F319FC5ADF}"/>
              </a:ext>
            </a:extLst>
          </p:cNvPr>
          <p:cNvSpPr/>
          <p:nvPr/>
        </p:nvSpPr>
        <p:spPr>
          <a:xfrm>
            <a:off x="2633472" y="1124712"/>
            <a:ext cx="384048" cy="32004"/>
          </a:xfrm>
          <a:prstGeom prst="rect">
            <a:avLst/>
          </a:prstGeom>
          <a:solidFill>
            <a:srgbClr val="3DD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B793B85-2C50-CE81-4BAE-160CFFF04924}"/>
              </a:ext>
            </a:extLst>
          </p:cNvPr>
          <p:cNvSpPr txBox="1"/>
          <p:nvPr/>
        </p:nvSpPr>
        <p:spPr>
          <a:xfrm>
            <a:off x="2651760" y="1207008"/>
            <a:ext cx="1801368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DD3C4"/>
                </a:solidFill>
                <a:latin typeface="Aptos"/>
              </a:rPr>
              <a:t>15.04 m³/s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97F0A94-2059-14F1-0E3F-9017A3330A91}"/>
              </a:ext>
            </a:extLst>
          </p:cNvPr>
          <p:cNvSpPr txBox="1"/>
          <p:nvPr/>
        </p:nvSpPr>
        <p:spPr>
          <a:xfrm>
            <a:off x="2651760" y="1508760"/>
            <a:ext cx="1801368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B7C9D8"/>
                </a:solidFill>
                <a:latin typeface="Aptos"/>
              </a:rPr>
              <a:t>BEST RMSE · LINEAR REGRESSION</a:t>
            </a:r>
          </a:p>
        </p:txBody>
      </p:sp>
      <p:sp>
        <p:nvSpPr>
          <p:cNvPr id="52" name="Rounded Rectangle 11">
            <a:extLst>
              <a:ext uri="{FF2B5EF4-FFF2-40B4-BE49-F238E27FC236}">
                <a16:creationId xmlns:a16="http://schemas.microsoft.com/office/drawing/2014/main" id="{397DCBD7-B289-4DD0-C858-25F3E1A031A3}"/>
              </a:ext>
            </a:extLst>
          </p:cNvPr>
          <p:cNvSpPr/>
          <p:nvPr/>
        </p:nvSpPr>
        <p:spPr>
          <a:xfrm>
            <a:off x="4590288" y="1124712"/>
            <a:ext cx="2029968" cy="621792"/>
          </a:xfrm>
          <a:prstGeom prst="roundRect">
            <a:avLst/>
          </a:prstGeom>
          <a:solidFill>
            <a:srgbClr val="143854"/>
          </a:solidFill>
          <a:ln w="10160">
            <a:solidFill>
              <a:srgbClr val="2F5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8FC6284-0100-3F5E-FE15-D1EEB641912A}"/>
              </a:ext>
            </a:extLst>
          </p:cNvPr>
          <p:cNvSpPr/>
          <p:nvPr/>
        </p:nvSpPr>
        <p:spPr>
          <a:xfrm>
            <a:off x="4718303" y="1124712"/>
            <a:ext cx="384048" cy="32004"/>
          </a:xfrm>
          <a:prstGeom prst="rect">
            <a:avLst/>
          </a:prstGeom>
          <a:solidFill>
            <a:srgbClr val="3DD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BC465B2-964B-31BA-B57F-3B3BFCBBDA47}"/>
              </a:ext>
            </a:extLst>
          </p:cNvPr>
          <p:cNvSpPr txBox="1"/>
          <p:nvPr/>
        </p:nvSpPr>
        <p:spPr>
          <a:xfrm>
            <a:off x="4736592" y="1207008"/>
            <a:ext cx="1801368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DD3C4"/>
                </a:solidFill>
                <a:latin typeface="Aptos"/>
              </a:rPr>
              <a:t>2.42 m³/s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F235007-683B-4EDC-D34C-242DE5514780}"/>
              </a:ext>
            </a:extLst>
          </p:cNvPr>
          <p:cNvSpPr txBox="1"/>
          <p:nvPr/>
        </p:nvSpPr>
        <p:spPr>
          <a:xfrm>
            <a:off x="4736592" y="1508760"/>
            <a:ext cx="1801368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B7C9D8"/>
                </a:solidFill>
                <a:latin typeface="Aptos"/>
              </a:rPr>
              <a:t>LOWEST MAE · RANDOM FOREST</a:t>
            </a:r>
          </a:p>
        </p:txBody>
      </p:sp>
      <p:sp>
        <p:nvSpPr>
          <p:cNvPr id="56" name="Rounded Rectangle 15">
            <a:extLst>
              <a:ext uri="{FF2B5EF4-FFF2-40B4-BE49-F238E27FC236}">
                <a16:creationId xmlns:a16="http://schemas.microsoft.com/office/drawing/2014/main" id="{32F73A2D-8D36-752B-5FC3-7C932F93DCFE}"/>
              </a:ext>
            </a:extLst>
          </p:cNvPr>
          <p:cNvSpPr/>
          <p:nvPr/>
        </p:nvSpPr>
        <p:spPr>
          <a:xfrm>
            <a:off x="6675120" y="1124712"/>
            <a:ext cx="2029968" cy="621792"/>
          </a:xfrm>
          <a:prstGeom prst="roundRect">
            <a:avLst/>
          </a:prstGeom>
          <a:solidFill>
            <a:srgbClr val="143854"/>
          </a:solidFill>
          <a:ln w="10160">
            <a:solidFill>
              <a:srgbClr val="2F5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A8889B6-A12E-7ADD-79D8-DCA11934448E}"/>
              </a:ext>
            </a:extLst>
          </p:cNvPr>
          <p:cNvSpPr/>
          <p:nvPr/>
        </p:nvSpPr>
        <p:spPr>
          <a:xfrm>
            <a:off x="6803136" y="1124712"/>
            <a:ext cx="384048" cy="32004"/>
          </a:xfrm>
          <a:prstGeom prst="rect">
            <a:avLst/>
          </a:prstGeom>
          <a:solidFill>
            <a:srgbClr val="3DD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30E147D-8883-F832-72AE-0226885FAD2D}"/>
              </a:ext>
            </a:extLst>
          </p:cNvPr>
          <p:cNvSpPr txBox="1"/>
          <p:nvPr/>
        </p:nvSpPr>
        <p:spPr>
          <a:xfrm>
            <a:off x="6821424" y="1207008"/>
            <a:ext cx="1801368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DD3C4"/>
                </a:solidFill>
                <a:latin typeface="Aptos"/>
              </a:rPr>
              <a:t>0.762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5C45311-A9B5-2F8D-5B35-F8B30E065A60}"/>
              </a:ext>
            </a:extLst>
          </p:cNvPr>
          <p:cNvSpPr txBox="1"/>
          <p:nvPr/>
        </p:nvSpPr>
        <p:spPr>
          <a:xfrm>
            <a:off x="6821424" y="1508760"/>
            <a:ext cx="1801368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B7C9D8"/>
                </a:solidFill>
                <a:latin typeface="Aptos"/>
              </a:rPr>
              <a:t>BEST CLASSIFIER F1 · RF</a:t>
            </a:r>
          </a:p>
        </p:txBody>
      </p:sp>
      <p:sp>
        <p:nvSpPr>
          <p:cNvPr id="60" name="Rounded Rectangle 19">
            <a:extLst>
              <a:ext uri="{FF2B5EF4-FFF2-40B4-BE49-F238E27FC236}">
                <a16:creationId xmlns:a16="http://schemas.microsoft.com/office/drawing/2014/main" id="{79A695DA-436A-A16C-278F-32AF5AD4843B}"/>
              </a:ext>
            </a:extLst>
          </p:cNvPr>
          <p:cNvSpPr/>
          <p:nvPr/>
        </p:nvSpPr>
        <p:spPr>
          <a:xfrm>
            <a:off x="420624" y="1920240"/>
            <a:ext cx="4041648" cy="2103120"/>
          </a:xfrm>
          <a:prstGeom prst="roundRect">
            <a:avLst/>
          </a:prstGeom>
          <a:solidFill>
            <a:srgbClr val="11314B"/>
          </a:solidFill>
          <a:ln w="10160">
            <a:solidFill>
              <a:srgbClr val="2F5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20">
            <a:extLst>
              <a:ext uri="{FF2B5EF4-FFF2-40B4-BE49-F238E27FC236}">
                <a16:creationId xmlns:a16="http://schemas.microsoft.com/office/drawing/2014/main" id="{16BB200E-65AF-7252-CB59-4F8E549CE18E}"/>
              </a:ext>
            </a:extLst>
          </p:cNvPr>
          <p:cNvSpPr/>
          <p:nvPr/>
        </p:nvSpPr>
        <p:spPr>
          <a:xfrm>
            <a:off x="4681728" y="1920240"/>
            <a:ext cx="4041648" cy="2103120"/>
          </a:xfrm>
          <a:prstGeom prst="roundRect">
            <a:avLst/>
          </a:prstGeom>
          <a:solidFill>
            <a:srgbClr val="11314B"/>
          </a:solidFill>
          <a:ln w="10160">
            <a:solidFill>
              <a:srgbClr val="2F5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2A53A01-FBC3-2C88-A2DA-7BFA0622685C}"/>
              </a:ext>
            </a:extLst>
          </p:cNvPr>
          <p:cNvSpPr/>
          <p:nvPr/>
        </p:nvSpPr>
        <p:spPr>
          <a:xfrm>
            <a:off x="585216" y="2066544"/>
            <a:ext cx="384048" cy="32004"/>
          </a:xfrm>
          <a:prstGeom prst="rect">
            <a:avLst/>
          </a:prstGeom>
          <a:solidFill>
            <a:srgbClr val="3DD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5C81295-5537-79AA-2C83-E377503DA0AC}"/>
              </a:ext>
            </a:extLst>
          </p:cNvPr>
          <p:cNvSpPr/>
          <p:nvPr/>
        </p:nvSpPr>
        <p:spPr>
          <a:xfrm>
            <a:off x="4846320" y="2066544"/>
            <a:ext cx="384048" cy="32004"/>
          </a:xfrm>
          <a:prstGeom prst="rect">
            <a:avLst/>
          </a:prstGeom>
          <a:solidFill>
            <a:srgbClr val="3DD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3E6C331-1192-DB2C-7F48-5B457499324D}"/>
              </a:ext>
            </a:extLst>
          </p:cNvPr>
          <p:cNvSpPr txBox="1"/>
          <p:nvPr/>
        </p:nvSpPr>
        <p:spPr>
          <a:xfrm>
            <a:off x="585216" y="2167128"/>
            <a:ext cx="3712463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3DD3C4"/>
                </a:solidFill>
                <a:latin typeface="Aptos"/>
              </a:rPr>
              <a:t>REGRESSION FINDINGS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6B17689-921B-7CB1-C1D7-2B7403333FEF}"/>
              </a:ext>
            </a:extLst>
          </p:cNvPr>
          <p:cNvSpPr txBox="1"/>
          <p:nvPr/>
        </p:nvSpPr>
        <p:spPr>
          <a:xfrm>
            <a:off x="4846320" y="2167128"/>
            <a:ext cx="3712463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3DD3C4"/>
                </a:solidFill>
                <a:latin typeface="Aptos"/>
              </a:rPr>
              <a:t>HIGH-FLOW CLASSIFICATION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E09C1D8-D8B2-DF93-EAC6-63F2443D82BD}"/>
              </a:ext>
            </a:extLst>
          </p:cNvPr>
          <p:cNvSpPr txBox="1"/>
          <p:nvPr/>
        </p:nvSpPr>
        <p:spPr>
          <a:xfrm>
            <a:off x="603504" y="2487168"/>
            <a:ext cx="3694176" cy="1399032"/>
          </a:xfrm>
          <a:prstGeom prst="rect">
            <a:avLst/>
          </a:prstGeom>
          <a:noFill/>
        </p:spPr>
        <p:txBody>
          <a:bodyPr wrap="square" lIns="18288" tIns="9144" rIns="36576" bIns="9144">
            <a:spAutoFit/>
          </a:bodyPr>
          <a:lstStyle/>
          <a:p>
            <a:pPr>
              <a:buChar char="•"/>
              <a:defRPr sz="1025">
                <a:solidFill>
                  <a:srgbClr val="F6F9FC"/>
                </a:solidFill>
                <a:latin typeface="Aptos"/>
              </a:defRPr>
            </a:pPr>
            <a:r>
              <a:t>Discharge showed strong seasonality, peaking in August at 72.46 m³/s on average.</a:t>
            </a:r>
          </a:p>
          <a:p>
            <a:pPr>
              <a:buChar char="•"/>
              <a:defRPr sz="1025">
                <a:solidFill>
                  <a:srgbClr val="F6F9FC"/>
                </a:solidFill>
                <a:latin typeface="Aptos"/>
              </a:defRPr>
            </a:pPr>
            <a:r>
              <a:t>Linear Regression led on RMSE (15.0433) and R² (0.9344); Random Forest led on MAE (2.4167 m³/s).</a:t>
            </a:r>
          </a:p>
          <a:p>
            <a:pPr>
              <a:buChar char="•"/>
              <a:defRPr sz="1025">
                <a:solidFill>
                  <a:srgbClr val="F6F9FC"/>
                </a:solidFill>
                <a:latin typeface="Aptos"/>
              </a:defRPr>
            </a:pPr>
            <a:r>
              <a:t>Feature engineering reduced Random Forest MAE by 2.19% and RMSE by 6.54%.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DDFAD4A-288B-9E52-0A3E-5D20BB3460DC}"/>
              </a:ext>
            </a:extLst>
          </p:cNvPr>
          <p:cNvSpPr txBox="1"/>
          <p:nvPr/>
        </p:nvSpPr>
        <p:spPr>
          <a:xfrm>
            <a:off x="4864608" y="2487168"/>
            <a:ext cx="3694176" cy="1399032"/>
          </a:xfrm>
          <a:prstGeom prst="rect">
            <a:avLst/>
          </a:prstGeom>
          <a:noFill/>
        </p:spPr>
        <p:txBody>
          <a:bodyPr wrap="square" lIns="18288" tIns="9144" rIns="36576" bIns="9144">
            <a:spAutoFit/>
          </a:bodyPr>
          <a:lstStyle/>
          <a:p>
            <a:pPr>
              <a:buChar char="•"/>
              <a:defRPr sz="1000">
                <a:solidFill>
                  <a:srgbClr val="F6F9FC"/>
                </a:solidFill>
                <a:latin typeface="Aptos"/>
              </a:defRPr>
            </a:pPr>
            <a:r>
              <a:t>High flow was defined as next-day discharge above each station’s training-set 90th percentile; positives were 10% of train and 6.4% of test.</a:t>
            </a:r>
          </a:p>
          <a:p>
            <a:pPr>
              <a:buChar char="•"/>
              <a:defRPr sz="1000">
                <a:solidFill>
                  <a:srgbClr val="F6F9FC"/>
                </a:solidFill>
                <a:latin typeface="Aptos"/>
              </a:defRPr>
            </a:pPr>
            <a:r>
              <a:t>Random Forest achieved 97.0% accuracy, 76.9% precision, 75.6% recall and the best F1 (0.762).</a:t>
            </a:r>
          </a:p>
          <a:p>
            <a:pPr>
              <a:buChar char="•"/>
              <a:defRPr sz="1000">
                <a:solidFill>
                  <a:srgbClr val="F6F9FC"/>
                </a:solidFill>
                <a:latin typeface="Aptos"/>
              </a:defRPr>
            </a:pPr>
            <a:r>
              <a:t>Logistic Regression reached 100% recall but only 28.7% precision, producing many false alarms.</a:t>
            </a:r>
          </a:p>
        </p:txBody>
      </p:sp>
      <p:sp>
        <p:nvSpPr>
          <p:cNvPr id="68" name="Rounded Rectangle 27">
            <a:extLst>
              <a:ext uri="{FF2B5EF4-FFF2-40B4-BE49-F238E27FC236}">
                <a16:creationId xmlns:a16="http://schemas.microsoft.com/office/drawing/2014/main" id="{0AE5190B-9A7B-E7C4-D714-FAAB9D6E6451}"/>
              </a:ext>
            </a:extLst>
          </p:cNvPr>
          <p:cNvSpPr/>
          <p:nvPr/>
        </p:nvSpPr>
        <p:spPr>
          <a:xfrm>
            <a:off x="502920" y="4169663"/>
            <a:ext cx="8138160" cy="484632"/>
          </a:xfrm>
          <a:prstGeom prst="roundRect">
            <a:avLst/>
          </a:prstGeom>
          <a:solidFill>
            <a:srgbClr val="12545D"/>
          </a:solidFill>
          <a:ln w="10160">
            <a:solidFill>
              <a:srgbClr val="198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11DACC1-554F-1048-4E03-EDEC603290F5}"/>
              </a:ext>
            </a:extLst>
          </p:cNvPr>
          <p:cNvSpPr txBox="1"/>
          <p:nvPr/>
        </p:nvSpPr>
        <p:spPr>
          <a:xfrm>
            <a:off x="685800" y="4215384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6F9FC"/>
                </a:solidFill>
                <a:latin typeface="Aptos"/>
              </a:rPr>
              <a:t>NEXT STEP  Tune the decision threshold to balance missed high-flow events against false alarms; validate with a persistence baseline and station-level metrics before operational use.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3B1C16F-23E3-37AB-C731-B146F69DFE34}"/>
              </a:ext>
            </a:extLst>
          </p:cNvPr>
          <p:cNvSpPr txBox="1"/>
          <p:nvPr/>
        </p:nvSpPr>
        <p:spPr>
          <a:xfrm>
            <a:off x="512064" y="4736592"/>
            <a:ext cx="811987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B7C9D8"/>
                </a:solidFill>
                <a:latin typeface="Aptos"/>
              </a:rPr>
              <a:t>The 90th-percentile labels are statistical thresholds, not official warning levels. Results reflect one chronological test period.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pal Flood">
  <a:themeElements>
    <a:clrScheme name="Nepal Flood">
      <a:dk1>
        <a:srgbClr val="0B2545"/>
      </a:dk1>
      <a:lt1>
        <a:srgbClr val="FFFFFF"/>
      </a:lt1>
      <a:dk2>
        <a:srgbClr val="13315C"/>
      </a:dk2>
      <a:lt2>
        <a:srgbClr val="EAF2F7"/>
      </a:lt2>
      <a:accent1>
        <a:srgbClr val="1C7293"/>
      </a:accent1>
      <a:accent2>
        <a:srgbClr val="F28C28"/>
      </a:accent2>
      <a:accent3>
        <a:srgbClr val="8DA9C4"/>
      </a:accent3>
      <a:accent4>
        <a:srgbClr val="2A9D8F"/>
      </a:accent4>
      <a:accent5>
        <a:srgbClr val="D1495B"/>
      </a:accent5>
      <a:accent6>
        <a:srgbClr val="5C6B7A"/>
      </a:accent6>
      <a:hlink>
        <a:srgbClr val="1C7293"/>
      </a:hlink>
      <a:folHlink>
        <a:srgbClr val="5C6B7A"/>
      </a:folHlink>
    </a:clrScheme>
    <a:fontScheme name="Nepal Floo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1245</Words>
  <Application>Microsoft Office PowerPoint</Application>
  <PresentationFormat>On-screen Show (16:9)</PresentationFormat>
  <Paragraphs>253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Arial</vt:lpstr>
      <vt:lpstr>Calibri</vt:lpstr>
      <vt:lpstr>Nepal Flood</vt:lpstr>
      <vt:lpstr>Nepal Flood &amp; Weather: Next-Day River Discharge Prediction</vt:lpstr>
      <vt:lpstr>Dataset at a glance</vt:lpstr>
      <vt:lpstr>Station discharge varies 180x</vt:lpstr>
      <vt:lpstr>A heavily skewed target</vt:lpstr>
      <vt:lpstr>The monsoon dominates the year</vt:lpstr>
      <vt:lpstr>When do unusually high flows occur?</vt:lpstr>
      <vt:lpstr>Weather vs discharge: weak links</vt:lpstr>
      <vt:lpstr>Stations compared on a log scale</vt:lpstr>
      <vt:lpstr>Feature engineering pipeline</vt:lpstr>
      <vt:lpstr>Time-based train/test split</vt:lpstr>
      <vt:lpstr>Regression model comparison</vt:lpstr>
      <vt:lpstr>Linear vs Random Forest</vt:lpstr>
      <vt:lpstr>Random Forest: actual vs predicted</vt:lpstr>
      <vt:lpstr>Error analysis: largest flows</vt:lpstr>
      <vt:lpstr>What drives next-day discharge</vt:lpstr>
      <vt:lpstr>Did feature engineering help?</vt:lpstr>
      <vt:lpstr>High-flow classification setup</vt:lpstr>
      <vt:lpstr>Classifier performance</vt:lpstr>
      <vt:lpstr>Random Forest confusion matrix</vt:lpstr>
      <vt:lpstr>What signals a high-flow day?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Abhijith S</cp:lastModifiedBy>
  <cp:revision>2</cp:revision>
  <dcterms:created xsi:type="dcterms:W3CDTF">2026-10-24T10:40:33Z</dcterms:created>
  <dcterms:modified xsi:type="dcterms:W3CDTF">2026-10-24T16:57:20Z</dcterms:modified>
</cp:coreProperties>
</file>